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08cc8e3c6941b2" /><Relationship Type="http://schemas.openxmlformats.org/officeDocument/2006/relationships/extended-properties" Target="/docProps/app.xml" Id="Rc6728fbe37e24bad" /><Relationship Type="http://schemas.openxmlformats.org/officeDocument/2006/relationships/officeDocument" Target="/ppt/presentation.xml" Id="Rbcb78fc972d445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199fb5d3b446c0"/>
  </p:sldMasterIdLst>
  <p:notesMasterIdLst>
    <p:notesMasterId xmlns:r="http://schemas.openxmlformats.org/officeDocument/2006/relationships" r:id="Rbbc6971254534a91"/>
  </p:notesMasterIdLst>
  <p:sldIdLst>
    <p:sldId xmlns:r="http://schemas.openxmlformats.org/officeDocument/2006/relationships" id="256" r:id="R50effe8dd0744c23"/>
    <p:sldId xmlns:r="http://schemas.openxmlformats.org/officeDocument/2006/relationships" id="257" r:id="R38526aab904a4cba"/>
    <p:sldId xmlns:r="http://schemas.openxmlformats.org/officeDocument/2006/relationships" id="258" r:id="R71ad186f6a1446e4"/>
    <p:sldId xmlns:r="http://schemas.openxmlformats.org/officeDocument/2006/relationships" id="259" r:id="Rdbb731d3c4f146c3"/>
    <p:sldId xmlns:r="http://schemas.openxmlformats.org/officeDocument/2006/relationships" id="260" r:id="R4bd21137b3a2430d"/>
    <p:sldId xmlns:r="http://schemas.openxmlformats.org/officeDocument/2006/relationships" id="261" r:id="R05ce6f9819f14772"/>
    <p:sldId xmlns:r="http://schemas.openxmlformats.org/officeDocument/2006/relationships" id="262" r:id="R9ffbc1b085604e5a"/>
    <p:sldId xmlns:r="http://schemas.openxmlformats.org/officeDocument/2006/relationships" id="263" r:id="Rfe5d7f84d36b4c0f"/>
    <p:sldId xmlns:r="http://schemas.openxmlformats.org/officeDocument/2006/relationships" id="264" r:id="Rb5871db537fb43e6"/>
    <p:sldId xmlns:r="http://schemas.openxmlformats.org/officeDocument/2006/relationships" id="265" r:id="Rc8bea916674b4ae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e46eb608304d05" /><Relationship Type="http://schemas.openxmlformats.org/officeDocument/2006/relationships/slideMaster" Target="/ppt/slideMasters/slideMaster1.xml" Id="R00199fb5d3b446c0" /><Relationship Type="http://schemas.openxmlformats.org/officeDocument/2006/relationships/notesMaster" Target="/ppt/notesMasters/notesMaster1.xml" Id="Rbbc6971254534a91" /><Relationship Type="http://schemas.openxmlformats.org/officeDocument/2006/relationships/presProps" Target="/ppt/presProps.xml" Id="R866b805d5a934eb9" /><Relationship Type="http://schemas.openxmlformats.org/officeDocument/2006/relationships/tableStyles" Target="/ppt/tableStyles.xml" Id="R319712f4fa5f40c7" /><Relationship Type="http://schemas.openxmlformats.org/officeDocument/2006/relationships/slide" Target="/ppt/slides/slide1.xml" Id="R50effe8dd0744c23" /><Relationship Type="http://schemas.openxmlformats.org/officeDocument/2006/relationships/slide" Target="/ppt/slides/slide2.xml" Id="R38526aab904a4cba" /><Relationship Type="http://schemas.openxmlformats.org/officeDocument/2006/relationships/slide" Target="/ppt/slides/slide3.xml" Id="R71ad186f6a1446e4" /><Relationship Type="http://schemas.openxmlformats.org/officeDocument/2006/relationships/slide" Target="/ppt/slides/slide4.xml" Id="Rdbb731d3c4f146c3" /><Relationship Type="http://schemas.openxmlformats.org/officeDocument/2006/relationships/slide" Target="/ppt/slides/slide5.xml" Id="R4bd21137b3a2430d" /><Relationship Type="http://schemas.openxmlformats.org/officeDocument/2006/relationships/slide" Target="/ppt/slides/slide6.xml" Id="R05ce6f9819f14772" /><Relationship Type="http://schemas.openxmlformats.org/officeDocument/2006/relationships/slide" Target="/ppt/slides/slide7.xml" Id="R9ffbc1b085604e5a" /><Relationship Type="http://schemas.openxmlformats.org/officeDocument/2006/relationships/slide" Target="/ppt/slides/slide8.xml" Id="Rfe5d7f84d36b4c0f" /><Relationship Type="http://schemas.openxmlformats.org/officeDocument/2006/relationships/slide" Target="/ppt/slides/slide9.xml" Id="Rb5871db537fb43e6" /><Relationship Type="http://schemas.openxmlformats.org/officeDocument/2006/relationships/slide" Target="/ppt/slides/slide10.xml" Id="Rc8bea916674b4a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ebacf15f5e4a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8dc4fc0e974105" /><Relationship Type="http://schemas.openxmlformats.org/officeDocument/2006/relationships/notesMaster" Target="/ppt/notesMasters/notesMaster1.xml" Id="R8c6949b656ec46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e055a9c24c4d86" /><Relationship Type="http://schemas.openxmlformats.org/officeDocument/2006/relationships/notesMaster" Target="/ppt/notesMasters/notesMaster1.xml" Id="Rc73ab358352541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cfaec4f9ba4e76" /><Relationship Type="http://schemas.openxmlformats.org/officeDocument/2006/relationships/notesMaster" Target="/ppt/notesMasters/notesMaster1.xml" Id="Rf54e7a110c0640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613874e9054ebd" /><Relationship Type="http://schemas.openxmlformats.org/officeDocument/2006/relationships/notesMaster" Target="/ppt/notesMasters/notesMaster1.xml" Id="Rd362697a19d443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42787b1edc40b1" /><Relationship Type="http://schemas.openxmlformats.org/officeDocument/2006/relationships/notesMaster" Target="/ppt/notesMasters/notesMaster1.xml" Id="Rccdd498b58ca47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2cb4959ca64895" /><Relationship Type="http://schemas.openxmlformats.org/officeDocument/2006/relationships/notesMaster" Target="/ppt/notesMasters/notesMaster1.xml" Id="Rbcf35b2565b94c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f406e674e44f15" /><Relationship Type="http://schemas.openxmlformats.org/officeDocument/2006/relationships/notesMaster" Target="/ppt/notesMasters/notesMaster1.xml" Id="Rd10de2f418ea4a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f598e38fcc475e" /><Relationship Type="http://schemas.openxmlformats.org/officeDocument/2006/relationships/notesMaster" Target="/ppt/notesMasters/notesMaster1.xml" Id="Ra9e697502e4f43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7f7ff1472143bf" /><Relationship Type="http://schemas.openxmlformats.org/officeDocument/2006/relationships/notesMaster" Target="/ppt/notesMasters/notesMaster1.xml" Id="Rac4036bf6b8d44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80ffcfb65d4a18" /><Relationship Type="http://schemas.openxmlformats.org/officeDocument/2006/relationships/notesMaster" Target="/ppt/notesMasters/notesMaster1.xml" Id="R781cb913f61448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 na wyzwanie Kraków bez barier. Zakres A — miejsca, D — społeczność, E — API i widget. B — trasy i C — rozbudowane karty dostępności obiektów pomijamy w tym etapie. Opis wymagań: kbb.pdf, str. 1–3. Dane demo są fikcyjne.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 porównuje konkretne cechy z preferencjami. Wskazanie zgodności w danych nie jest gwarancją stanu obiektu. Preferencje przechowywane lokalnie w przeglądarce. Źródło: docs/PRODUCT.md i kod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Zrzut rzeczywistego głównego widoku z 4 października 2026. Dziesiątą cechą jest ogólne oznaczenie OSM wheelchair, osobne od wejścia bez schodów. Demo: cztery fikcyjne miejsca. Publiczny import OSM działa dla konfigurowanego obszaru. B i C poza zakresem.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docs/DATA.md, Infrastructure i Core. OSM edycja ponad 180 dni lub brak daty edycji daje status starszych danych. Datę edycji źródła odróżniamy od pobrania. Import manualny, min. odstęp 10 minut; maks. 300 nazwanych miejsc i 8 MB odpowiedzi. Awaria źródła zachowuje lokalną kopię. Częstotliwość schedulerem jest planem. ODbL: https://www.openstreetmap.org/copyright . Miejskich zbiorów ani wewnętrznych API UMK nie wykorzystano.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Potwierdzenia liczymy jako niezależne sesje przeglądarki, nie zweryfikowane osoby. To sygnał społecznościowy, nie audyt/certyfikat. Nowa obserwacja pomaga poprawić lub zakwestionować informacje; pełna moderacja, usuwanie nadużyć i panel operatora do wdrożenia przed pilotażem.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Działająca architektura: DataProviders (IPlaceDataProvider i adapter Overpass) pozyskuje dane; Infrastructure zapisuje miejsca i dowody w SQLite; Core ustala ważność, konflikty i dopasowanie do potrzeb; ASP.NET API udostępnia wspólny wynik dla WWW i widgetu. Ten podział pozwala dodawać źródła bez budowania nowego interfejsu. Zrzut rzeczywistego widgetu demo, bez zmian. Hotele, wydarzenia i portale turystyczne mogą go osadzać. Źródła: docs/ARCHITECTURE.md i istniejący kod. Dockerfile i Compose są przygotowane, ale nie były testowane.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Propozycja rozwoju funkcjonalnego, a nie funkcje już wdrożone. Personalizacja: zapamiętanie profilu potrzeb, ulubionych miejsc i ustawień filtrów, które obecnie użytkownik wprowadza przy wyszukiwaniu. Powiadomienia: obserwowanie wybranych miejsc i alerty o zmianach, np. awarii lub przywróceniu działania windy. Każdy alert zachowuje źródło, datę i status potwierdzenia, także przy konflikcie danych. Społeczność i partnerzy: zdjęcia do zgłoszeń, panel zarządzania informacją o obiekcie, kolejka moderatora i procedura korekt. Obsługa zdjęć wymaga zasad prywatności i usuwania danych, a informacje właściciela pozostają oznaczonym źródłem. Dalszy etap: trasy uwzględniające bariery i rozbudowane karty dostępności obiektów. Te dwa moduły są poza zakresem obecnego prototypu. Trasy wymagają danych o ciągach pieszych, przeszkodach i awariach oraz oceny kompletności danych, a rozbudowane karty dostępności wymagają uzgodnionego katalogu cech, zasad weryfikacji, dat ważności i odpowiedzialności. Nie sugerować formalnej certyfikacji bez niezależnej procedury. Kolejność prac należy potwierdzić w badaniach z użytkownikami. Równolegle do nowych funkcji nadal konieczny jest pilotaż, regularne aktualizowanie danych i odpowiedzialny operator. Warunki wejścia do kolejnego miasta zawiera slajd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Poprzedni plan wdrożenia i utrzymania pozostaje kontekstem propozycji:</a:t>
            </a:r>
          </a:p>
          <a:p xmlns:a="http://schemas.openxmlformats.org/drawingml/2006/main">
            <a:r>
              <a:t>Propozycja rozwoju, a nie funkcje już wdrożone. Etap pilotażu obejmuje rzeczywisty test czytnikiem ekranu, badania z osobami na wózkach i rodzicami, moderację i usuwanie danych, konta moderatorów, TLS, trwałe klucze sesji, backupy i monitoring. Etap danych: scheduler z retry/backoff, obsługa usuniętych obiektów i wejść, archiwum źródeł oraz proces korekt po oględzinach. Etap B2B: panel właściciela, kontrolowany dostęp, klucze klientów API, limity i rozliczanie usług. Skalowanie: kolejne miasto po spełnieniu warunków; baza zarządzana i oddzielny worker dopiero przy wzroście obciążenia. Użytkownik końcowy pozostaje bezpłatny. Operator: zespół MiastoBezBarier lub uzgodniony partner pilotażu, poza UMK. Budżet infrastruktury 100–400 PLN/mies. to własne założenie, nie oferta dostawcy; osobno praca, moderacja, oględziny, wsparcie i mapy. Mierniki: uzupełnione braki, czas wykrycia awarii i konflikty rozwiązane po weryfikacji. Źródła: docs/PRODUCT.md i docs/DATA.md.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hipotezy biznesowe wymagające rozmów z odbiorcami; brak wdrożonych płatności, abonamentów lub płacących klientów. Opłata nie wpływa na wiarygodność danych. Budżet infrastruktury małego pilotażu: założenie 100–400 PLN/mies., nie oferta/cennik dostawcy. Osobno moderacja, weryfikacja w terenie, wsparcie, mapy i praca zespołu. Finansowanie: pilotaż partnerów i następnie abonamenty/API. Źródło docs/PRODUCT.md.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 docs/VALIDATION.md i axe.json z 4 października 2026. axe 4.10.3, Chrome headless shell, badane tagi WCAG 2 A/AA, 2.1 AA i 2.2 AA; 28 reguł zaliczonych, 0 naruszeń, 2 reguły z elementami do ręcznej oceny. Zakres: początkowy główny widok 1440×900, bez pełnego audytu widgetu/dialogu. Drzewo dostępności obejrzano technicznie; to nie jest test NVDA/VoiceOver. Nie deklarujemy zgodności AA. Brak kont użytkownika i diagnoz. Serwer przechowuje treść, czasy i pseudonim autora potrzebny do potwierdzeń; IP może być przetwarzane przez warstwę sieciową i limity.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Warunki uruchomienia kolejnego miasta, propozycja operacyjna. 1) Dla każdego publicznego źródła wskazać zbiór lub API, licencję i prawa do ponownego użycia, atrybucję, częstotliwość oraz zachowanie przy awarii. Źródło może być OSM; dane miejskie są dodatkiem, bez dostępu do wewnętrznych systemów. 2) Skonfigurować obszar importu, kategorie, identyfikatory i mapowanie do wspólnego katalogu cech; dodać adapter tylko gdy potrzebny. 3) Wyznaczyć zespół lub partnera odpowiedzialnego za produkt, hosting poza UMK, bezpieczeństwo, aktualizacje, moderację, wsparcie i koszty, a także lokalnego partnera weryfikacji. Finansowanie musi obejmować pracę ludzi, nie tylko serwer. 4) Przed startem sprawdzić miejsca pilotażowe w terenie, główny scenariusz z użytkownikami, klawiaturę i czytnik, a także braki, konflikty i niedostępność źródła. Kryteria akceptacji: oznaczone źródła i daty, brak fałszywego potwierdzenia dostępności, działająca procedura korekt i wskazany operator. Po pilotażu ocenić jakość i obciążenie; szerszy zakres i częstotliwość dobrać do źródeł. To plan, nie dokonane wdrożenie. Źródła: docs/PRODUCT.md, docs/ARCHITECTURE.md, docs/DATA.md i brief kbb.pdf, rozdziały 5–6.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1a00fa88e4f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eb9140ca1141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f64ba952040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fbd94f5174f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f53b602b242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53a8af0084c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2680C82-01BA-4B40-A576-DA38F557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413557-8F99-4922-86FC-7EBAA11F89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B529707-7C26-4854-9FA4-AA6520AB76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20771A6-E307-472D-9C44-90CF1F8A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25FE0D-69AF-4F54-BCF8-AEC53398CE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9B612BB-81FF-4FF3-A268-1C9DD2F8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3E4FFC3-AA94-4CCD-A18F-E689B58CD2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DE2ACA4-4A1C-4DB6-BAC6-2F3339164C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2FF5766-0D27-4D02-86B2-C87D5FD9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890AE1-6C45-497A-9910-AC56385BF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DDB8FD-060A-4B7E-97C4-1C1D28982E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7E3D66-CFB0-4309-A40F-6BFB038EE9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060D89A-D113-4863-85A0-58B9C323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086B47-0002-4FC3-8B03-B0ACB32814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848E60-811D-4523-A6FB-93471103C8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08576d8800436b" /><Relationship Type="http://schemas.openxmlformats.org/officeDocument/2006/relationships/slideLayout" Target="/ppt/slideLayouts/slideLayout1.xml" Id="R991b2acd540c4688" /><Relationship Type="http://schemas.openxmlformats.org/officeDocument/2006/relationships/slideLayout" Target="/ppt/slideLayouts/slideLayout2.xml" Id="R230a323a363e42c4" /><Relationship Type="http://schemas.openxmlformats.org/officeDocument/2006/relationships/slideLayout" Target="/ppt/slideLayouts/slideLayout3.xml" Id="Ra46af5c6c44a4e93" /><Relationship Type="http://schemas.openxmlformats.org/officeDocument/2006/relationships/slideLayout" Target="/ppt/slideLayouts/slideLayout4.xml" Id="Ra97286c555114190" /><Relationship Type="http://schemas.openxmlformats.org/officeDocument/2006/relationships/slideLayout" Target="/ppt/slideLayouts/slideLayout5.xml" Id="R7a66e69e373a434a" /><Relationship Type="http://schemas.openxmlformats.org/officeDocument/2006/relationships/slideLayout" Target="/ppt/slideLayouts/slideLayout6.xml" Id="R6075ae6fe1374b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1b2acd540c4688"/>
    <p:sldLayoutId xmlns:r="http://schemas.openxmlformats.org/officeDocument/2006/relationships" id="2147483650" r:id="R230a323a363e42c4"/>
    <p:sldLayoutId xmlns:r="http://schemas.openxmlformats.org/officeDocument/2006/relationships" id="2147483651" r:id="Ra46af5c6c44a4e93"/>
    <p:sldLayoutId xmlns:r="http://schemas.openxmlformats.org/officeDocument/2006/relationships" id="2147483652" r:id="Ra97286c555114190"/>
    <p:sldLayoutId xmlns:r="http://schemas.openxmlformats.org/officeDocument/2006/relationships" id="2147483653" r:id="R7a66e69e373a434a"/>
    <p:sldLayoutId xmlns:r="http://schemas.openxmlformats.org/officeDocument/2006/relationships" id="2147483654" r:id="R6075ae6fe1374b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99eb37431346f4" /><Relationship Type="http://schemas.openxmlformats.org/officeDocument/2006/relationships/notesSlide" Target="/ppt/notesSlides/notesSlide1.xml" Id="R28a49b8bd2164f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665e7c72a5498f" /><Relationship Type="http://schemas.openxmlformats.org/officeDocument/2006/relationships/notesSlide" Target="/ppt/notesSlides/notesSlide2.xml" Id="R4b4cc7b82fd343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44462fd324ace" /><Relationship Type="http://schemas.openxmlformats.org/officeDocument/2006/relationships/image" Target="/ppt/media/image.png" Id="Rc53d4d1a48124c50" /><Relationship Type="http://schemas.openxmlformats.org/officeDocument/2006/relationships/notesSlide" Target="/ppt/notesSlides/notesSlide3.xml" Id="R9a69798f992046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11987e2744592" /><Relationship Type="http://schemas.openxmlformats.org/officeDocument/2006/relationships/image" Target="/ppt/media/image2.png" Id="Rafd2238613bb4998" /><Relationship Type="http://schemas.openxmlformats.org/officeDocument/2006/relationships/notesSlide" Target="/ppt/notesSlides/notesSlide4.xml" Id="R6fcc428a385f42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f449b119644911" /><Relationship Type="http://schemas.openxmlformats.org/officeDocument/2006/relationships/image" Target="/ppt/media/image3.png" Id="R7942b9157e4448f5" /><Relationship Type="http://schemas.openxmlformats.org/officeDocument/2006/relationships/notesSlide" Target="/ppt/notesSlides/notesSlide5.xml" Id="Ra2fe8319ba7e42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1857df5cf14ce6" /><Relationship Type="http://schemas.openxmlformats.org/officeDocument/2006/relationships/image" Target="/ppt/media/image4.png" Id="R58a6d12a74304f8f" /><Relationship Type="http://schemas.openxmlformats.org/officeDocument/2006/relationships/notesSlide" Target="/ppt/notesSlides/notesSlide6.xml" Id="R04b28ba3a61c46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e3b566729f4302" /><Relationship Type="http://schemas.openxmlformats.org/officeDocument/2006/relationships/notesSlide" Target="/ppt/notesSlides/notesSlide7.xml" Id="R9e92837d136e48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52c5d8d89840b2" /><Relationship Type="http://schemas.openxmlformats.org/officeDocument/2006/relationships/notesSlide" Target="/ppt/notesSlides/notesSlide8.xml" Id="R91e80724bbd848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d3e6e87354694" /><Relationship Type="http://schemas.openxmlformats.org/officeDocument/2006/relationships/notesSlide" Target="/ppt/notesSlides/notesSlide9.xml" Id="R0d017aa4b2074b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18b906d9684286" /><Relationship Type="http://schemas.openxmlformats.org/officeDocument/2006/relationships/notesSlide" Target="/ppt/notesSlides/notesSlide10.xml" Id="R7dc33ba61beb49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17E2C-B9E2-417C-92B6-CA1C698E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CD4B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BCD4B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41C3B-5340-42F7-B44B-29EA57BE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MiastoBezBarier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EEE22-EB21-41EE-B310-53DEDB85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Konkretne bariery. Jawne źródła. Decyzja dopasowana do potrzeb.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1DE3A-282F-4B85-A8C9-8F3E0682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105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CD4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BCD4B8"/>
                </a:solidFill>
                <a:latin typeface="DejaVu Sans"/>
                <a:ea typeface="DejaVu Sans"/>
                <a:cs typeface="DejaVu Sans"/>
              </a:rPr>
              <a:t>MiastoBezBarier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54482-2459-4709-9A1E-A41B323E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105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CD4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BCD4B8"/>
                </a:solidFill>
                <a:latin typeface="DejaVu Sans"/>
                <a:ea typeface="DejaVu Sans"/>
                <a:cs typeface="DejaVu Sans"/>
              </a:rPr>
              <a:t>01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CBAF7-E47F-4F25-BF24-027AA463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38684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Czy zmieszczę się w wejściu?</a:t>
            </a:r>
          </a:p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Czy winda dziś działa?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BB1E1-F8A2-431F-8EA6-BAB7DFC1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Informacje o miejscach dla osób na wózkach</a:t>
            </a:r>
          </a:p>
          <a:p xmlns:a="http://schemas.openxmlformats.org/drawingml/2006/main">
            <a:pPr>
              <a:buNone/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 rodziców z wózkami dziecięcymi.</a:t>
            </a:r>
          </a:p>
        </p:txBody>
      </p:sp>
    </p:spTree>
    <p:extLst>
      <p:ext uri="{BB962C8B-B14F-4D97-AF65-F5344CB8AC3E}">
        <p14:creationId xmlns:p14="http://schemas.microsoft.com/office/powerpoint/2010/main" val="4537917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66260-BB05-47C3-9903-E38427E5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3484A-CB6F-4283-B6A5-EB169FF5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Problem i odbiorcy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8D26D-F296-4453-BD86-FD565E5A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Ogólna etykieta dostępności nie opisuje indywidualnych barier.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607C8-59BE-4811-96ED-1444EBD1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105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MiastoBezBarier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ADFD8-2C68-4439-8028-DAE0EDAA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105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02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52497-A812-4053-BCCA-29D62A9B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Osoba poruszająca się na wózku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508A5-6F81-460A-AF97-24BE15F0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Wejście bez schodów. Drzwi ≥ 90 cm.</a:t>
            </a:r>
          </a:p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Winda i aktualna informacja o jej działaniu.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9E2CF-C90A-4857-ADBE-4842FB13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Rodzic z wózkiem dziecięcym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B50EC-516A-4898-B57B-3F517311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Niski próg, wygodna nawierzchnia</a:t>
            </a:r>
          </a:p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i miejsce odpoczynku.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4B214-227A-4F30-8511-497A25D1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3868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Użytkownik wybiera potrzeby dotyczące otoczenia.</a:t>
            </a:r>
          </a:p>
          <a:p xmlns:a="http://schemas.openxmlformats.org/drawingml/2006/main">
            <a:pPr>
              <a:buNone/>
              <a:defRPr sz="262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Nie podaje diagnozy ani informacji o niepełnosprawności.</a:t>
            </a:r>
          </a:p>
        </p:txBody>
      </p:sp>
    </p:spTree>
    <p:extLst>
      <p:ext uri="{BB962C8B-B14F-4D97-AF65-F5344CB8AC3E}">
        <p14:creationId xmlns:p14="http://schemas.microsoft.com/office/powerpoint/2010/main" val="879792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3287C-C860-4CD3-AB81-1EBA4517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983D6-C8ED-4E56-B103-F19092B1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Działający prototyp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B09EE-91C1-43BA-9226-B2C25ADE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Miejsca + obserwacje społeczności + wspólne API.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EB079-52E6-45FD-BB2A-D9B7ACA8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105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MiastoBezBarier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B5894-A037-425D-AE50-00171434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105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03 / 10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d4d1a48124c50"/>
          <a:stretch xmlns:a="http://schemas.openxmlformats.org/drawingml/2006/main"/>
        </p:blipFill>
        <p:spPr>
          <a:xfrm xmlns:a="http://schemas.openxmlformats.org/drawingml/2006/main">
            <a:off x="6353175" y="3000375"/>
            <a:ext cx="7467600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78F79-4DA1-4F01-9DE6-846F9758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10 cech miejsca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1E480-C47E-4AA6-BDEA-A5A031C2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Schody, podjazd, szerokość, próg, winda, toaleta, nawierzchnia i odpoczynek.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CC7A8-FA33-443B-BAB4-F5DBB7F8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Lista jest tekstową</a:t>
            </a:r>
          </a:p>
          <a:p xmlns:a="http://schemas.openxmlformats.org/drawingml/2006/main">
            <a:pPr>
              <a:buNone/>
              <a:defRPr sz="2400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alternatywą mapy.</a:t>
            </a:r>
          </a:p>
        </p:txBody>
      </p:sp>
    </p:spTree>
    <p:extLst>
      <p:ext uri="{BB962C8B-B14F-4D97-AF65-F5344CB8AC3E}">
        <p14:creationId xmlns:p14="http://schemas.microsoft.com/office/powerpoint/2010/main" val="17013569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2C1D2-9441-4ACE-BA71-0A1E93F4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5CB1E-4E48-4E1E-85D9-65D13E01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Źródła i wiarygodność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F8EAE-8715-4072-BD21-8B7043DB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Każda cecha ma pochodzenie, daty i status.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649EC-FD34-42CA-B182-417DB8B4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105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MiastoBezBarier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158B4-E9C3-4A28-9AE5-C990B20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105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04 / 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2238613bb4998"/>
          <a:stretch xmlns:a="http://schemas.openxmlformats.org/drawingml/2006/main"/>
        </p:blipFill>
        <p:spPr>
          <a:xfrm xmlns:a="http://schemas.openxmlformats.org/drawingml/2006/main">
            <a:off x="10462295" y="2943225"/>
            <a:ext cx="3745159" cy="4686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9EF0E-504D-4436-A52D-16A57089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900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OSM oraz osobne obserwacje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9E6F8-AA34-42C0-9BB2-27F76FE8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900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OSM: publiczny Overpass, licencja ODbL.</a:t>
            </a:r>
          </a:p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Zgłoszenia społeczności i dane demo są oznaczone.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44A75-6A71-4721-88E7-F3AFDF83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900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Braki, stare dane i konflikt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E044D-86A2-48C7-AEEF-3901F0D1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900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Brak danych pozostaje niewiadomą.</a:t>
            </a:r>
          </a:p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Sprzeczne wartości nie są ukrywane przez głosowanie.</a:t>
            </a:r>
          </a:p>
        </p:txBody>
      </p:sp>
    </p:spTree>
    <p:extLst>
      <p:ext uri="{BB962C8B-B14F-4D97-AF65-F5344CB8AC3E}">
        <p14:creationId xmlns:p14="http://schemas.microsoft.com/office/powerpoint/2010/main" val="621350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97170-D510-4791-8965-52D06BD4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D8163-3659-482A-9C9F-161ADB8F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Społeczność wykrywa zmiany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660D6-934E-409A-A864-D634F0E4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Obserwacja od razu widoczna; jej wiarygodność pozostaje jawna.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FFE1B-4CB7-4113-A945-EEA5697B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105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MiastoBezBarier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B3F82-05A8-4824-85D3-B9987C5C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105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05 / 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2b9157e4448f5"/>
          <a:stretch xmlns:a="http://schemas.openxmlformats.org/drawingml/2006/main"/>
        </p:blipFill>
        <p:spPr>
          <a:xfrm xmlns:a="http://schemas.openxmlformats.org/drawingml/2006/main">
            <a:off x="9970060" y="2971800"/>
            <a:ext cx="4158129" cy="461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B2926-1A6A-47F6-B17B-C9470A35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847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Dwie inne sesje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25F3F-2FE6-4888-A5CE-D5543C3A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847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Nadają status społecznościowy. Autor nie może</a:t>
            </a:r>
          </a:p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potwierdzić własnego zgłoszenia.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D727B-ED33-4EC3-845C-3F947F00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847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Obserwacje wygasają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15713-221E-40BB-9E7C-FF34EF19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847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Działanie windy: 48 godzin. Inne cechy: 30 dni.</a:t>
            </a:r>
          </a:p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Konflikt wymaga osobnego sprawdzenia.</a:t>
            </a:r>
          </a:p>
        </p:txBody>
      </p:sp>
    </p:spTree>
    <p:extLst>
      <p:ext uri="{BB962C8B-B14F-4D97-AF65-F5344CB8AC3E}">
        <p14:creationId xmlns:p14="http://schemas.microsoft.com/office/powerpoint/2010/main" val="6595639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73298-F6C5-4F7D-A72A-E1966D45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2362F-2A28-4983-963E-D49D204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Integracje i architektura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CE008-A99E-440E-8626-31A1B73A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Adaptery pozyskują dane. Wspólny silnik zasila aplikację, API i widget.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E34BB-060A-447B-9A55-79C60861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105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MiastoBezBarier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30532-CE59-4211-B21B-95D812B3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105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06 / 10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6d12a74304f8f"/>
          <a:stretch xmlns:a="http://schemas.openxmlformats.org/drawingml/2006/main"/>
        </p:blipFill>
        <p:spPr>
          <a:xfrm xmlns:a="http://schemas.openxmlformats.org/drawingml/2006/main">
            <a:off x="8796493" y="2933700"/>
            <a:ext cx="3933513" cy="4810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E4A1F-74F8-4310-9957-827544B8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Oddzielone</a:t>
            </a:r>
          </a:p>
          <a:p xmlns:a="http://schemas.openxmlformats.org/drawingml/2006/main">
            <a:pPr>
              <a:buNone/>
              <a:defRPr sz="2700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komponenty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34AD4-BAAF-4AA5-A717-35456AAB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7609C-9C9B-457F-841E-19CCB864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90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Źródła trafiają do SQLite.</a:t>
            </a:r>
          </a:p>
          <a:p xmlns:a="http://schemas.openxmlformats.org/drawingml/2006/main">
            <a:pPr>
              <a:buNone/>
              <a:defRPr sz="240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Core ocenia cechy i konflikty.</a:t>
            </a:r>
          </a:p>
          <a:p xmlns:a="http://schemas.openxmlformats.org/drawingml/2006/main">
            <a:pPr>
              <a:buNone/>
              <a:defRPr sz="240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API udostępnia wynik.</a:t>
            </a:r>
          </a:p>
          <a:p xmlns:a="http://schemas.openxmlformats.org/drawingml/2006/main">
            <a:pPr>
              <a:buNone/>
              <a:defRPr sz="240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WWW i widget go prezentują.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3D1E6-243B-464B-9D00-81F6FA40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199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C# / ASP.NET Core .NET 10</a:t>
            </a:r>
          </a:p>
          <a:p xmlns:a="http://schemas.openxmlformats.org/drawingml/2006/main">
            <a:pPr>
              <a:buNone/>
              <a:defRPr sz="180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SQLite + HTML/CSS/JavaScript</a:t>
            </a:r>
          </a:p>
        </p:txBody>
      </p:sp>
    </p:spTree>
    <p:extLst>
      <p:ext uri="{BB962C8B-B14F-4D97-AF65-F5344CB8AC3E}">
        <p14:creationId xmlns:p14="http://schemas.microsoft.com/office/powerpoint/2010/main" val="2131505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61004-4477-4A05-BF8C-1BEC14E2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E48A5-6D41-4C4A-9A2B-52D76666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Propozycja rozwoju aplikacji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BAAA6-75B8-4F3C-BF91-239671D5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Proponowane funkcje, rozwijane na podstawie testów z użytkownikami.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CC5A9-A85F-4E3B-B119-9FBDE2ED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105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MiastoBezBarier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59878-C7F2-4AA4-A7DA-D7412ED5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105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07 / 10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3190875"/>
          <a:ext xmlns:a="http://schemas.openxmlformats.org/drawingml/2006/main" cx="13868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22800"/>
                <a:gridCol w="9245600"/>
              </a:tblGrid>
              <a:tr h="8191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Obszar rozwoju</a:t>
                      </a:r>
                    </a:p>
                  </a:txBody>
                  <a:tcPr marL="171450" marR="171450" marT="123825" marB="123825">
                    <a:solidFill>
                      <a:srgbClr val="173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Nowa funkcja i korzyść</a:t>
                      </a:r>
                    </a:p>
                  </a:txBody>
                  <a:tcPr marL="171450" marR="171450" marT="123825" marB="123825">
                    <a:solidFill>
                      <a:srgbClr val="173F32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Personalizacja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Zapisane profile potrzeb, ulubione miejsca i filtry.</a:t>
                      </a:r>
                    </a:p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Szybsze wyszukiwanie bez ponownego ustawiania preferencji.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Powiadomienia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Alerty o awarii windy lub zmianie cech obserwowanego miejsca.</a:t>
                      </a:r>
                    </a:p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Użytkownik widzi źródło, datę i poziom potwierdzenia.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Społeczność i partnerzy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Zdjęcia w zgłoszeniach, panel obiektu i narzędzia moderacji.</a:t>
                      </a:r>
                    </a:p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Łatwiejsze uzupełnianie braków i sprawdzanie informacji.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Trasy i karty obiektów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Trasy omijające bariery. Rozbudowane karty dostępności obiektów.</a:t>
                      </a:r>
                    </a:p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Dalszy etap po pozyskaniu danych i zasad weryfikacji.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C4CF7-7436-4C2A-98BD-10811AC5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96175"/>
            <a:ext cx="1386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Najpierw personalizacja i alerty. Trasy i rozbudowane karty dostępności w dalszym etapie.</a:t>
            </a:r>
          </a:p>
        </p:txBody>
      </p:sp>
    </p:spTree>
    <p:extLst>
      <p:ext uri="{BB962C8B-B14F-4D97-AF65-F5344CB8AC3E}">
        <p14:creationId xmlns:p14="http://schemas.microsoft.com/office/powerpoint/2010/main" val="18561869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906A6-C43A-4224-A5ED-CC6DFB72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F7E41-CED2-43D2-9EF0-9B828976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Model biznesowy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192E8-E325-44CE-B317-312EE922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Bezpłatna aplikacja użytkownika; utrzymanie finansują usługi dla partnerów.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180F9-8BAE-496B-BE3B-0D718973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105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MiastoBezBarier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AA25B-0273-42DD-A905-FCFD0A88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105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08 / 10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3190875"/>
          <a:ext xmlns:a="http://schemas.openxmlformats.org/drawingml/2006/main" cx="13868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62400"/>
                <a:gridCol w="4953000"/>
                <a:gridCol w="4953000"/>
              </a:tblGrid>
              <a:tr h="1023938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Odbiorca</a:t>
                      </a:r>
                    </a:p>
                  </a:txBody>
                  <a:tcPr marL="171450" marR="171450" marT="123825" marB="123825">
                    <a:solidFill>
                      <a:srgbClr val="173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Wartość</a:t>
                      </a:r>
                    </a:p>
                  </a:txBody>
                  <a:tcPr marL="171450" marR="171450" marT="123825" marB="123825">
                    <a:solidFill>
                      <a:srgbClr val="173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Propozycja przychodu</a:t>
                      </a:r>
                    </a:p>
                  </a:txBody>
                  <a:tcPr marL="171450" marR="171450" marT="123825" marB="123825">
                    <a:solidFill>
                      <a:srgbClr val="173F32"/>
                    </a:solidFill>
                  </a:tcPr>
                </a:tc>
              </a:tr>
              <a:tr h="1023938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Hotele / restauracje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Informacje na stronie obiektu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Abonament za widget i obsługę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</a:tr>
              <a:tr h="1023938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Organizatorzy wydarzeń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Bariery i bieżące zmiany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Pakiet wydarzenia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</a:tr>
              <a:tr h="1023938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Portale turystyczne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Wspólne dane w ich produkcie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API według wykorzystania</a:t>
                      </a:r>
                    </a:p>
                  </a:txBody>
                  <a:tcPr marL="171450" marR="171450" marT="123825" marB="123825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27413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0AD68-F457-40A6-B460-F127A06F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F19B6-FFA9-42D6-BF91-7AFB81E9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Walidacja, dostępność i prywatność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FB9E7-C720-4DC8-A75B-B923A3AB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Wyniki wykonanych sprawdzeń i jawne granice prototypu.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D28EA-8E56-4B68-A3BE-0436A026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105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MiastoBezBarier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54352-138F-4F96-92E8-DA3AFC73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105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09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56D1F-DE0C-4552-B476-FB5D65B8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38 sprawdzeń — sukces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DEF92-B477-4B81-8642-70BDDB74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24 testy reguł / SQLite + 14 HTTP.</a:t>
            </a:r>
          </a:p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Import OSM: 300 miejsc i 61 obserwacji.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8D72F-54C4-4776-9A83-F6C83512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Kontrola głównego widoku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B473E-79C4-4DE7-9344-4AA6A257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axe: 0 naruszeń badanych reguł.</a:t>
            </a:r>
          </a:p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Klawiatura, Escape, etykiety i lista zamiast mapy.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A6233-594B-45D2-9ACC-0523C7B1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3868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Cel: WCAG 2.2 AA. Test rzeczywistym czytnikiem ekranu</a:t>
            </a:r>
          </a:p>
          <a:p xmlns:a="http://schemas.openxmlformats.org/drawingml/2006/main">
            <a:pPr>
              <a:buNone/>
              <a:defRPr sz="262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oraz pełny audyt pozostają do wykonania.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0DBD8-C1A7-458B-857E-FFF1CCC8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00875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Preferencje lokalne • pseudonimowa sesja • CSRF i walidacja zapisu</a:t>
            </a:r>
          </a:p>
          <a:p xmlns:a="http://schemas.openxmlformats.org/drawingml/2006/main">
            <a:pPr>
              <a:buNone/>
              <a:defRPr sz="1875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HTTPS oraz procedury moderacji wymagane przed uruchomieniem publicznym.</a:t>
            </a:r>
          </a:p>
        </p:txBody>
      </p:sp>
    </p:spTree>
    <p:extLst>
      <p:ext uri="{BB962C8B-B14F-4D97-AF65-F5344CB8AC3E}">
        <p14:creationId xmlns:p14="http://schemas.microsoft.com/office/powerpoint/2010/main" val="9519349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26C66-E070-4900-B4E7-387FC126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64DC4-554F-466B-A56F-A4E12940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386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Uruchomienie w kolejnym mieście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3D969-D91C-4A70-ADA6-741CD7CB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Ta sama aplikacja, lokalne dane i uzgodniona odpowiedzialność.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0B0B5-21DE-4272-9339-608C7493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105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MiastoBezBarier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688F6-73D6-45AB-937A-0E537B52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105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50"/>
                </a:solidFill>
                <a:latin typeface="DejaVu Sans"/>
                <a:ea typeface="DejaVu Sans"/>
                <a:cs typeface="DejaVu Sans"/>
              </a:rPr>
              <a:t>10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44C49-300A-43C1-B04E-1B75A396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4BB35-3C76-4C7B-B2F2-8801B4F3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3EFE0-CF95-4631-8083-A9529F28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CB32E-AF81-48E0-BA68-F29AE10C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44466-AF98-416E-9EC4-4FD5084C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165D7-FDEB-46F3-8996-B1393EB9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0B3E5-727E-4BA1-939F-4A0B6FE8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95925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CC182-BE69-4F07-A833-0723C8A0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43625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685800" y="3190875"/>
          <a:ext xmlns:a="http://schemas.openxmlformats.org/drawingml/2006/main" cx="13868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22800"/>
                <a:gridCol w="9245600"/>
              </a:tblGrid>
              <a:tr h="8191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Warunek</a:t>
                      </a:r>
                    </a:p>
                  </a:txBody>
                  <a:tcPr marL="171450" marR="171450" marT="95250" marB="95250">
                    <a:solidFill>
                      <a:srgbClr val="173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 musi być gotowe</a:t>
                      </a:r>
                    </a:p>
                  </a:txBody>
                  <a:tcPr marL="171450" marR="171450" marT="95250" marB="95250">
                    <a:solidFill>
                      <a:srgbClr val="173F32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Źródła i licencje</a:t>
                      </a:r>
                    </a:p>
                  </a:txBody>
                  <a:tcPr marL="171450" marR="171450" marT="95250" marB="9525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Publiczne dane, prawa do użycia i atrybucja.</a:t>
                      </a:r>
                    </a:p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Uzgodnione odświeżanie i działanie przy awarii.</a:t>
                      </a:r>
                    </a:p>
                  </a:txBody>
                  <a:tcPr marL="171450" marR="171450" marT="95250" marB="95250">
                    <a:solidFill>
                      <a:srgbClr val="F5F6F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Konfiguracja miasta</a:t>
                      </a:r>
                    </a:p>
                  </a:txBody>
                  <a:tcPr marL="171450" marR="171450" marT="95250" marB="9525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Obszar, kategorie miejsc i mapowanie cech.</a:t>
                      </a:r>
                    </a:p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Nowy adapter tylko dla innego formatu danych.</a:t>
                      </a:r>
                    </a:p>
                  </a:txBody>
                  <a:tcPr marL="171450" marR="171450" marT="95250" marB="95250">
                    <a:solidFill>
                      <a:srgbClr val="F5F6F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 i utrzymanie</a:t>
                      </a:r>
                    </a:p>
                  </a:txBody>
                  <a:tcPr marL="171450" marR="171450" marT="95250" marB="9525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Operator hostingu, aktualizacji i moderacji.</a:t>
                      </a:r>
                    </a:p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Lokalny partner weryfikacji oraz budżet działania.</a:t>
                      </a:r>
                    </a:p>
                  </a:txBody>
                  <a:tcPr marL="171450" marR="171450" marT="95250" marB="95250">
                    <a:solidFill>
                      <a:srgbClr val="F5F6F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Walidacja pilotażu</a:t>
                      </a:r>
                    </a:p>
                  </a:txBody>
                  <a:tcPr marL="171450" marR="171450" marT="95250" marB="9525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Sprawdzone miejsca i scenariusz z użytkownikami.</a:t>
                      </a:r>
                    </a:p>
                    <a:p>
                      <a:r>
                        <a:rPr sz="1950" b="0">
                          <a:solidFill>
                            <a:srgbClr val="173F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Jawne braki i konflikty oraz odczyt czytnikiem.</a:t>
                      </a:r>
                    </a:p>
                  </a:txBody>
                  <a:tcPr marL="171450" marR="171450" marT="95250" marB="95250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28D6A-0689-4F94-8786-79BE0284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96175"/>
            <a:ext cx="1386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3F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3F32"/>
                </a:solidFill>
                <a:latin typeface="DejaVu Sans"/>
                <a:ea typeface="DejaVu Sans"/>
                <a:cs typeface="DejaVu Sans"/>
              </a:rPr>
              <a:t>Proponowany operator: zespół MiastoBezBarier lub partner pilotażu, poza UMK.</a:t>
            </a:r>
          </a:p>
        </p:txBody>
      </p:sp>
    </p:spTree>
    <p:extLst>
      <p:ext uri="{BB962C8B-B14F-4D97-AF65-F5344CB8AC3E}">
        <p14:creationId xmlns:p14="http://schemas.microsoft.com/office/powerpoint/2010/main" val="1757903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2026-10-04T07:35:27.2570000Z</dcterms:created>
  <dcterms:modified xsi:type="dcterms:W3CDTF">2026-10-04T07:35:27.2570000Z</dcterms:modified>
</coreProperties>
</file>